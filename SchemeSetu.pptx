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57" r:id="rId3"/>
    <p:sldId id="290" r:id="rId4"/>
    <p:sldId id="302" r:id="rId5"/>
    <p:sldId id="300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5400" autoAdjust="0"/>
  </p:normalViewPr>
  <p:slideViewPr>
    <p:cSldViewPr snapToGrid="0" snapToObjects="1">
      <p:cViewPr varScale="1">
        <p:scale>
          <a:sx n="105" d="100"/>
          <a:sy n="105" d="100"/>
        </p:scale>
        <p:origin x="798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14-Sep-26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9fd8fcc5b_3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2" name="Google Shape;92;g3f9fd8fcc5b_3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3f9fd8fcc5b_3_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F1939-48B2-C18E-5E70-EE0BE58A4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322C9DCD-5A7E-B280-8F69-FF162C8B5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3BA7CFAB-21B4-7366-DE08-E7B856D2786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A3E0E91-5848-7737-993F-10B5010381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66357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14-Sep-26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14-Sep-26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14-Sep-26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14-Sep-26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14-Sep-26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14-Sep-26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microsoft.com/office/2007/relationships/hdphoto" Target="../media/hdphoto2.wdp"/><Relationship Id="rId18" Type="http://schemas.openxmlformats.org/officeDocument/2006/relationships/image" Target="../media/image19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5" Type="http://schemas.openxmlformats.org/officeDocument/2006/relationships/image" Target="../media/image16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11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ib.gov.in/?utm_source=chatgpt.com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digilocker.gov.in/?utm_source=chatgpt.com" TargetMode="External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msuraj.dosje.gov.in/?utm_source=chatgpt.com" TargetMode="External"/><Relationship Id="rId11" Type="http://schemas.openxmlformats.org/officeDocument/2006/relationships/hyperlink" Target="https://scheme-setu-techbizz.vercel.app/" TargetMode="External"/><Relationship Id="rId5" Type="http://schemas.openxmlformats.org/officeDocument/2006/relationships/hyperlink" Target="https://nsfdc.nic.in/?utm_source=chatgpt.com" TargetMode="External"/><Relationship Id="rId10" Type="http://schemas.openxmlformats.org/officeDocument/2006/relationships/hyperlink" Target="https://github.com/sizwinz/SchemeSetu.git" TargetMode="External"/><Relationship Id="rId4" Type="http://schemas.openxmlformats.org/officeDocument/2006/relationships/hyperlink" Target="https://socialjustice.gov.in/?utm_source=chatgpt.com" TargetMode="External"/><Relationship Id="rId9" Type="http://schemas.openxmlformats.org/officeDocument/2006/relationships/hyperlink" Target="https://www.meity.gov.in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0" y="15992"/>
            <a:ext cx="10436352" cy="1062337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5" y="1715881"/>
            <a:ext cx="6150991" cy="3936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26092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lang="en-I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AI-Driven Scheme Matching for Marginalized Entrepreneurs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 Automation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 - 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TechBizz</a:t>
            </a:r>
            <a:endParaRPr lang="en-IN" sz="20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/>
          <p:cNvPicPr preferRelativeResize="0"/>
          <p:nvPr/>
        </p:nvPicPr>
        <p:blipFill rotWithShape="1">
          <a:blip r:embed="rId3">
            <a:alphaModFix/>
          </a:blip>
          <a:srcRect t="5807" b="3883"/>
          <a:stretch/>
        </p:blipFill>
        <p:spPr>
          <a:xfrm>
            <a:off x="8381900" y="501633"/>
            <a:ext cx="3683000" cy="534671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0" y="6354763"/>
            <a:ext cx="12192000" cy="5032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867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2794100" y="196900"/>
            <a:ext cx="6350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3733" b="1" dirty="0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SchemeSetu</a:t>
            </a:r>
            <a:endParaRPr sz="3733" b="1" dirty="0">
              <a:solidFill>
                <a:srgbClr val="1F497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GB" b="1">
                <a:solidFill>
                  <a:schemeClr val="lt1"/>
                </a:solidFill>
              </a:rPr>
              <a:pPr>
                <a:spcBef>
                  <a:spcPts val="0"/>
                </a:spcBef>
                <a:spcAft>
                  <a:spcPts val="0"/>
                </a:spcAft>
              </a:p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99" name="Google Shape;99;p1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r>
              <a:rPr lang="en-GB">
                <a:solidFill>
                  <a:schemeClr val="lt1"/>
                </a:solidFill>
              </a:rPr>
              <a:t>@SIH Idea submission- Template</a:t>
            </a:r>
            <a:endParaRPr/>
          </a:p>
        </p:txBody>
      </p:sp>
      <p:pic>
        <p:nvPicPr>
          <p:cNvPr id="101" name="Google Shape;101;p14"/>
          <p:cNvPicPr preferRelativeResize="0"/>
          <p:nvPr/>
        </p:nvPicPr>
        <p:blipFill rotWithShape="1">
          <a:blip r:embed="rId4">
            <a:alphaModFix/>
          </a:blip>
          <a:srcRect t="308" b="318"/>
          <a:stretch/>
        </p:blipFill>
        <p:spPr>
          <a:xfrm>
            <a:off x="10287000" y="190500"/>
            <a:ext cx="1651200" cy="7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048249" y="5340367"/>
            <a:ext cx="33020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333" b="1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Prototype Interface</a:t>
            </a:r>
            <a:endParaRPr sz="1333" b="1" dirty="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8508800" y="5848367"/>
            <a:ext cx="34292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333" b="1" dirty="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SchemeSetu Architecture</a:t>
            </a:r>
            <a:endParaRPr sz="1333" b="1" dirty="0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oogle Shape;103;p14"/>
          <p:cNvGrpSpPr/>
          <p:nvPr/>
        </p:nvGrpSpPr>
        <p:grpSpPr>
          <a:xfrm>
            <a:off x="254000" y="1460500"/>
            <a:ext cx="4445200" cy="1714400"/>
            <a:chOff x="190500" y="904875"/>
            <a:chExt cx="3333900" cy="1285800"/>
          </a:xfrm>
        </p:grpSpPr>
        <p:sp>
          <p:nvSpPr>
            <p:cNvPr id="3" name="Google Shape;104;p14"/>
            <p:cNvSpPr/>
            <p:nvPr/>
          </p:nvSpPr>
          <p:spPr>
            <a:xfrm>
              <a:off x="190500" y="904875"/>
              <a:ext cx="3333900" cy="1285800"/>
            </a:xfrm>
            <a:prstGeom prst="roundRect">
              <a:avLst>
                <a:gd name="adj" fmla="val 5925"/>
              </a:avLst>
            </a:prstGeom>
            <a:solidFill>
              <a:srgbClr val="F4F7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endParaRPr/>
            </a:p>
          </p:txBody>
        </p:sp>
        <p:sp>
          <p:nvSpPr>
            <p:cNvPr id="4" name="Google Shape;105;p14"/>
            <p:cNvSpPr txBox="1"/>
            <p:nvPr/>
          </p:nvSpPr>
          <p:spPr>
            <a:xfrm>
              <a:off x="333375" y="1000125"/>
              <a:ext cx="30480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GB" sz="1733" b="1" dirty="0">
                  <a:solidFill>
                    <a:srgbClr val="1F497D"/>
                  </a:solidFill>
                  <a:latin typeface="Arial"/>
                  <a:ea typeface="Arial"/>
                  <a:cs typeface="Arial"/>
                  <a:sym typeface="Arial"/>
                </a:rPr>
                <a:t>Proposed Solution</a:t>
              </a:r>
              <a:endParaRPr sz="1733" b="1" dirty="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85750" indent="-285750">
                <a:spcBef>
                  <a:spcPts val="600"/>
                </a:spcBef>
                <a:spcAft>
                  <a:spcPts val="0"/>
                </a:spcAft>
                <a:buFont typeface="Wingdings" panose="05000000000000000000" pitchFamily="2" charset="2"/>
                <a:buChar char="Ø"/>
              </a:pPr>
              <a:r>
                <a:rPr lang="en-GB" sz="1400" b="1" dirty="0">
                  <a:solidFill>
                    <a:srgbClr val="1F497D"/>
                  </a:solidFill>
                  <a:latin typeface="Arial"/>
                  <a:ea typeface="Arial"/>
                  <a:cs typeface="Arial"/>
                  <a:sym typeface="Arial"/>
                </a:rPr>
                <a:t>SchemeSetu</a:t>
              </a:r>
              <a:r>
                <a:rPr lang="en-GB" sz="1400" dirty="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is a multilingual, voice-enabled AI platform guiding beneficiaries from discovery to verified Channel Partners using official knowledge sources.</a:t>
              </a:r>
              <a:endParaRPr sz="1400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" name="Google Shape;106;p14"/>
          <p:cNvGrpSpPr/>
          <p:nvPr/>
        </p:nvGrpSpPr>
        <p:grpSpPr>
          <a:xfrm>
            <a:off x="254000" y="3302000"/>
            <a:ext cx="4445200" cy="1990344"/>
            <a:chOff x="190500" y="2286000"/>
            <a:chExt cx="3333900" cy="2333700"/>
          </a:xfrm>
        </p:grpSpPr>
        <p:sp>
          <p:nvSpPr>
            <p:cNvPr id="6" name="Google Shape;107;p14"/>
            <p:cNvSpPr/>
            <p:nvPr/>
          </p:nvSpPr>
          <p:spPr>
            <a:xfrm>
              <a:off x="190500" y="2286000"/>
              <a:ext cx="3333900" cy="2333700"/>
            </a:xfrm>
            <a:prstGeom prst="roundRect">
              <a:avLst>
                <a:gd name="adj" fmla="val 326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endParaRPr/>
            </a:p>
          </p:txBody>
        </p:sp>
        <p:sp>
          <p:nvSpPr>
            <p:cNvPr id="7" name="Google Shape;108;p14"/>
            <p:cNvSpPr txBox="1"/>
            <p:nvPr/>
          </p:nvSpPr>
          <p:spPr>
            <a:xfrm>
              <a:off x="333375" y="2381250"/>
              <a:ext cx="3048000" cy="214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GB" sz="1733" b="1" dirty="0">
                  <a:solidFill>
                    <a:srgbClr val="953734"/>
                  </a:solidFill>
                  <a:latin typeface="Arial"/>
                  <a:ea typeface="Arial"/>
                  <a:cs typeface="Arial"/>
                  <a:sym typeface="Arial"/>
                </a:rPr>
                <a:t>Key Features &amp; USPs</a:t>
              </a:r>
              <a:endParaRPr sz="1733" b="1" dirty="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>
                <a:spcBef>
                  <a:spcPts val="800"/>
                </a:spcBef>
                <a:spcAft>
                  <a:spcPts val="0"/>
                </a:spcAft>
              </a:pPr>
              <a:r>
                <a:rPr lang="en-GB" sz="1267" b="1" dirty="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-GB" sz="1267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AI voice multilingual chat</a:t>
              </a:r>
              <a:endParaRPr sz="1267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GB" sz="1267" b="1" dirty="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-GB" sz="1267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Smart scheme recommender with match score</a:t>
              </a:r>
              <a:endParaRPr sz="1267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GB" sz="1267" b="1" dirty="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-GB" sz="1267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EMI &amp; financial calculator</a:t>
              </a:r>
              <a:endParaRPr sz="1267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GB" sz="1267" b="1" dirty="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-GB" sz="1267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Nearest partner locator (map-based)</a:t>
              </a:r>
              <a:endParaRPr sz="1267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GB" sz="1267" b="1" dirty="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-GB" sz="1267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Local LLM for gov. data privacy</a:t>
              </a:r>
              <a:endParaRPr sz="1267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GB" sz="1267" b="1" dirty="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-GB" sz="1267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Hallucination-proof, citation-backed AI</a:t>
              </a:r>
              <a:endParaRPr sz="1267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GB" sz="1267" b="1" dirty="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-GB" sz="1267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DigiLocker document sync &amp; tracking</a:t>
              </a:r>
              <a:endParaRPr sz="1267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F79ED551-B1EE-BE8D-2F95-4B962BAE1E1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8015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TechBizz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A51670-15AD-543F-883A-8BB8F2592A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3336" y="-282"/>
            <a:ext cx="1156364" cy="11563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8EF390-B4A8-82AA-BF89-32F04BB3EA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052" y="1498588"/>
            <a:ext cx="3874395" cy="38100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19DCE7FB-44E3-35D5-992F-22BB3ADC1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828" y="980290"/>
            <a:ext cx="5577571" cy="519479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463" y="43848"/>
            <a:ext cx="1385936" cy="654413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FDD874C1-AFE3-A0A8-786B-D85B01B14A8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8015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TechBizz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26AFDB-3368-9295-BA91-53FA2027F7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487437"/>
              </p:ext>
            </p:extLst>
          </p:nvPr>
        </p:nvGraphicFramePr>
        <p:xfrm>
          <a:off x="392825" y="1151371"/>
          <a:ext cx="5577572" cy="393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2903">
                  <a:extLst>
                    <a:ext uri="{9D8B030D-6E8A-4147-A177-3AD203B41FA5}">
                      <a16:colId xmlns:a16="http://schemas.microsoft.com/office/drawing/2014/main" val="3163176769"/>
                    </a:ext>
                  </a:extLst>
                </a:gridCol>
                <a:gridCol w="3574669">
                  <a:extLst>
                    <a:ext uri="{9D8B030D-6E8A-4147-A177-3AD203B41FA5}">
                      <a16:colId xmlns:a16="http://schemas.microsoft.com/office/drawing/2014/main" val="618144564"/>
                    </a:ext>
                  </a:extLst>
                </a:gridCol>
              </a:tblGrid>
              <a:tr h="3028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u="sng" dirty="0">
                          <a:solidFill>
                            <a:schemeClr val="tx2"/>
                          </a:solidFill>
                        </a:rPr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u="sng" dirty="0">
                          <a:solidFill>
                            <a:schemeClr val="tx2"/>
                          </a:solidFill>
                        </a:rPr>
                        <a:t>Proposed Stack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2012311"/>
                  </a:ext>
                </a:extLst>
              </a:tr>
              <a:tr h="302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Flutter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3999397"/>
                  </a:ext>
                </a:extLst>
              </a:tr>
              <a:tr h="302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FastAPI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1970939"/>
                  </a:ext>
                </a:extLst>
              </a:tr>
              <a:tr h="302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Voice / Speech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Bhashini SDK / Whisper-Indic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6775238"/>
                  </a:ext>
                </a:extLst>
              </a:tr>
              <a:tr h="302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Local LLM (Ollama) + RAG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4200988"/>
                  </a:ext>
                </a:extLst>
              </a:tr>
              <a:tr h="302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Embeddings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Sentence Transformers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7595302"/>
                  </a:ext>
                </a:extLst>
              </a:tr>
              <a:tr h="302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PostgreSQL + PostGIS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2559353"/>
                  </a:ext>
                </a:extLst>
              </a:tr>
              <a:tr h="302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Maps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MapMyIndia 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2387579"/>
                  </a:ext>
                </a:extLst>
              </a:tr>
              <a:tr h="302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DigiLocker / API Gateway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6601979"/>
                  </a:ext>
                </a:extLst>
              </a:tr>
              <a:tr h="302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Sovereign Local Inference, DigiLocker PKI Sync, JWT Session Auth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6491975"/>
                  </a:ext>
                </a:extLst>
              </a:tr>
              <a:tr h="302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Docker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4115789"/>
                  </a:ext>
                </a:extLst>
              </a:tr>
            </a:tbl>
          </a:graphicData>
        </a:graphic>
      </p:graphicFrame>
      <p:pic>
        <p:nvPicPr>
          <p:cNvPr id="8" name="Picture 7" descr="Flutter SVG and transparent PNG icons | TechIcons">
            <a:extLst>
              <a:ext uri="{FF2B5EF4-FFF2-40B4-BE49-F238E27FC236}">
                <a16:creationId xmlns:a16="http://schemas.microsoft.com/office/drawing/2014/main" id="{94C84242-E8CA-4B3A-079E-CEE39BA768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593" b="98434" l="9620" r="89933">
                        <a14:foregroundMark x1="73602" y1="5593" x2="46085" y2="33110"/>
                        <a14:foregroundMark x1="68680" y1="62864" x2="50336" y2="79195"/>
                        <a14:foregroundMark x1="50336" y1="79195" x2="68680" y2="92617"/>
                        <a14:foregroundMark x1="68680" y1="92617" x2="70694" y2="93289"/>
                        <a14:foregroundMark x1="72036" y1="95078" x2="76286" y2="93736"/>
                        <a14:foregroundMark x1="80761" y1="94631" x2="65324" y2="9843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0630" y="5172630"/>
            <a:ext cx="461666" cy="461666"/>
          </a:xfrm>
          <a:prstGeom prst="rect">
            <a:avLst/>
          </a:prstGeom>
        </p:spPr>
      </p:pic>
      <p:pic>
        <p:nvPicPr>
          <p:cNvPr id="9" name="Picture 8" descr="Fastapi Icon icon - Free Download PNG &amp; SVG | Streamline">
            <a:extLst>
              <a:ext uri="{FF2B5EF4-FFF2-40B4-BE49-F238E27FC236}">
                <a16:creationId xmlns:a16="http://schemas.microsoft.com/office/drawing/2014/main" id="{4A76133E-2B00-87A9-DFF4-77CB2AAC41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701" y="4953990"/>
            <a:ext cx="898945" cy="8989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3E93C2D-9420-6017-3E53-D7F59B19A6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5565" y="4869808"/>
            <a:ext cx="1936052" cy="1089029"/>
          </a:xfrm>
          <a:prstGeom prst="rect">
            <a:avLst/>
          </a:prstGeom>
          <a:effectLst>
            <a:outerShdw dist="12700" dir="2700000" algn="tl" rotWithShape="0">
              <a:prstClr val="black">
                <a:alpha val="76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8C0795-FBDC-2A2B-AACE-FFBDC1A7383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9918" y="5000060"/>
            <a:ext cx="1325638" cy="82852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92D9CF3-D682-065A-BEB5-4C4E9D16FA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8214" y="5237737"/>
            <a:ext cx="1524000" cy="1524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D427C77-1C24-7343-A2B1-2BCF061566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5309" y="5643121"/>
            <a:ext cx="713232" cy="713232"/>
          </a:xfrm>
          <a:prstGeom prst="rect">
            <a:avLst/>
          </a:prstGeom>
        </p:spPr>
      </p:pic>
      <p:pic>
        <p:nvPicPr>
          <p:cNvPr id="30" name="Picture 29" descr="Ollama Icon SVG Vector &amp; PNG Free Download | UXWing">
            <a:extLst>
              <a:ext uri="{FF2B5EF4-FFF2-40B4-BE49-F238E27FC236}">
                <a16:creationId xmlns:a16="http://schemas.microsoft.com/office/drawing/2014/main" id="{CD1B8250-0263-BD9C-55C6-E984ADBD7B0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5596" b="95487" l="9928" r="89892">
                        <a14:foregroundMark x1="29422" y1="28520" x2="20939" y2="33755"/>
                        <a14:foregroundMark x1="27798" y1="7762" x2="35379" y2="9928"/>
                        <a14:foregroundMark x1="66065" y1="8484" x2="73646" y2="8303"/>
                        <a14:foregroundMark x1="69675" y1="5957" x2="66245" y2="8484"/>
                        <a14:foregroundMark x1="30866" y1="5596" x2="33213" y2="5776"/>
                        <a14:foregroundMark x1="42780" y1="45848" x2="55596" y2="45487"/>
                        <a14:foregroundMark x1="55596" y1="45487" x2="56137" y2="45487"/>
                        <a14:foregroundMark x1="50542" y1="53249" x2="49278" y2="55776"/>
                        <a14:foregroundMark x1="32310" y1="46209" x2="32310" y2="48556"/>
                        <a14:foregroundMark x1="68592" y1="45848" x2="67870" y2="50000"/>
                        <a14:foregroundMark x1="80866" y1="88628" x2="80686" y2="9548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95499" y="5716448"/>
            <a:ext cx="503239" cy="503239"/>
          </a:xfrm>
          <a:prstGeom prst="rect">
            <a:avLst/>
          </a:prstGeom>
        </p:spPr>
      </p:pic>
      <p:pic>
        <p:nvPicPr>
          <p:cNvPr id="2" name="Picture 1" descr="BHASHINI - Apps on Google Play">
            <a:extLst>
              <a:ext uri="{FF2B5EF4-FFF2-40B4-BE49-F238E27FC236}">
                <a16:creationId xmlns:a16="http://schemas.microsoft.com/office/drawing/2014/main" id="{81120AC9-8520-6E55-840B-2AFB9F6D51B7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28028" b="25446"/>
          <a:stretch>
            <a:fillRect/>
          </a:stretch>
        </p:blipFill>
        <p:spPr>
          <a:xfrm>
            <a:off x="3232128" y="5665996"/>
            <a:ext cx="1298494" cy="604144"/>
          </a:xfrm>
          <a:prstGeom prst="rect">
            <a:avLst/>
          </a:prstGeom>
        </p:spPr>
      </p:pic>
      <p:pic>
        <p:nvPicPr>
          <p:cNvPr id="5" name="Picture 4" descr="https://www.mapmyindia.com/images/logo-m.png">
            <a:extLst>
              <a:ext uri="{FF2B5EF4-FFF2-40B4-BE49-F238E27FC236}">
                <a16:creationId xmlns:a16="http://schemas.microsoft.com/office/drawing/2014/main" id="{A57B423B-12BE-64F5-3949-F1F7AA74E8F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14356" y="5246958"/>
            <a:ext cx="1306264" cy="311898"/>
          </a:xfrm>
          <a:prstGeom prst="rect">
            <a:avLst/>
          </a:prstGeom>
        </p:spPr>
      </p:pic>
      <p:pic>
        <p:nvPicPr>
          <p:cNvPr id="17" name="Picture 16" descr="Google Antigravity - Press Assets">
            <a:extLst>
              <a:ext uri="{FF2B5EF4-FFF2-40B4-BE49-F238E27FC236}">
                <a16:creationId xmlns:a16="http://schemas.microsoft.com/office/drawing/2014/main" id="{8989F057-44A8-DB21-C23F-9D22A459301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78859" y="5693931"/>
            <a:ext cx="571492" cy="571492"/>
          </a:xfrm>
          <a:prstGeom prst="rect">
            <a:avLst/>
          </a:prstGeom>
        </p:spPr>
      </p:pic>
      <p:pic>
        <p:nvPicPr>
          <p:cNvPr id="19" name="Picture 18" descr="Codex Icon SVG Vector &amp; PNG Free Download | UXWing">
            <a:extLst>
              <a:ext uri="{FF2B5EF4-FFF2-40B4-BE49-F238E27FC236}">
                <a16:creationId xmlns:a16="http://schemas.microsoft.com/office/drawing/2014/main" id="{4B63A349-0A24-9F47-A955-0CAC1E4787B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75621" y="5742910"/>
            <a:ext cx="503238" cy="503238"/>
          </a:xfrm>
          <a:prstGeom prst="rect">
            <a:avLst/>
          </a:prstGeom>
        </p:spPr>
      </p:pic>
      <p:pic>
        <p:nvPicPr>
          <p:cNvPr id="20" name="Picture 19" descr="Claude Code SVG Icon - Free Download | Official Logo SVG | theSVG | theSVG">
            <a:extLst>
              <a:ext uri="{FF2B5EF4-FFF2-40B4-BE49-F238E27FC236}">
                <a16:creationId xmlns:a16="http://schemas.microsoft.com/office/drawing/2014/main" id="{D2E51A03-4A69-A4DA-41F3-C67C24BDCD1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02830" y="5732118"/>
            <a:ext cx="524823" cy="524823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33B02EF-4A4F-F9D6-127B-F50CAE667D39}"/>
              </a:ext>
            </a:extLst>
          </p:cNvPr>
          <p:cNvSpPr/>
          <p:nvPr/>
        </p:nvSpPr>
        <p:spPr>
          <a:xfrm>
            <a:off x="4532153" y="5675140"/>
            <a:ext cx="1709053" cy="59722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BF00D-347A-336F-6886-FCBB9943C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71C8161-FC12-3E9E-341E-60520F2EA2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0"/>
          <a:stretch>
            <a:fillRect/>
          </a:stretch>
        </p:blipFill>
        <p:spPr>
          <a:xfrm>
            <a:off x="0" y="1060041"/>
            <a:ext cx="5983587" cy="426176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07A389-5F92-5B49-8A1F-121528928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E38309-23E0-601C-0919-2A8332B81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92E618-6A3B-C0D3-DCAD-FF1294976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4CD3979-B9B8-41DC-5BE3-D01A265C51B1}"/>
              </a:ext>
            </a:extLst>
          </p:cNvPr>
          <p:cNvSpPr txBox="1">
            <a:spLocks/>
          </p:cNvSpPr>
          <p:nvPr/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FC94AB4-75EA-10D4-E92A-8CECF5608E51}"/>
              </a:ext>
            </a:extLst>
          </p:cNvPr>
          <p:cNvSpPr txBox="1">
            <a:spLocks/>
          </p:cNvSpPr>
          <p:nvPr/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pPr>
                <a:defRPr/>
              </a:pPr>
              <a:t>4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33DAF7D9-7514-D9F5-8C2D-25E358E53B76}"/>
              </a:ext>
            </a:extLst>
          </p:cNvPr>
          <p:cNvSpPr txBox="1">
            <a:spLocks/>
          </p:cNvSpPr>
          <p:nvPr/>
        </p:nvSpPr>
        <p:spPr>
          <a:xfrm>
            <a:off x="4648200" y="6356353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@SIH Idea submission- Template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1C6838A6-DC0B-53F4-7A01-ABAF50E7118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4687F9-D705-FFCF-40FA-760FE4212D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73BA245-11CA-FA09-D507-8C096FB48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355058"/>
              </p:ext>
            </p:extLst>
          </p:nvPr>
        </p:nvGraphicFramePr>
        <p:xfrm>
          <a:off x="5925312" y="1220208"/>
          <a:ext cx="6110719" cy="38691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4802">
                  <a:extLst>
                    <a:ext uri="{9D8B030D-6E8A-4147-A177-3AD203B41FA5}">
                      <a16:colId xmlns:a16="http://schemas.microsoft.com/office/drawing/2014/main" val="1908081311"/>
                    </a:ext>
                  </a:extLst>
                </a:gridCol>
                <a:gridCol w="3945917">
                  <a:extLst>
                    <a:ext uri="{9D8B030D-6E8A-4147-A177-3AD203B41FA5}">
                      <a16:colId xmlns:a16="http://schemas.microsoft.com/office/drawing/2014/main" val="3231485131"/>
                    </a:ext>
                  </a:extLst>
                </a:gridCol>
              </a:tblGrid>
              <a:tr h="4306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Challenge</a:t>
                      </a:r>
                      <a:endParaRPr lang="en-IN" sz="16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Mitigation</a:t>
                      </a:r>
                      <a:endParaRPr lang="en-IN" sz="16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865297607"/>
                  </a:ext>
                </a:extLst>
              </a:tr>
              <a:tr h="5027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Scheme rules change periodically</a:t>
                      </a:r>
                      <a:endParaRPr lang="en-IN" sz="12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Versioned scheme database with effective dates</a:t>
                      </a:r>
                      <a:endParaRPr lang="en-IN" sz="12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503063867"/>
                  </a:ext>
                </a:extLst>
              </a:tr>
              <a:tr h="5027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AI may provide incorrect information</a:t>
                      </a:r>
                      <a:endParaRPr lang="en-IN" sz="12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Rule engine + grounded RAG + citations</a:t>
                      </a:r>
                      <a:endParaRPr lang="en-IN" sz="12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180084980"/>
                  </a:ext>
                </a:extLst>
              </a:tr>
              <a:tr h="4306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Sensitive government data</a:t>
                      </a:r>
                      <a:endParaRPr lang="en-IN" sz="12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Local LLM, encryption, consent, data minimization</a:t>
                      </a:r>
                      <a:endParaRPr lang="en-IN" sz="12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55138183"/>
                  </a:ext>
                </a:extLst>
              </a:tr>
              <a:tr h="5551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Partner eligibility changes</a:t>
                      </a:r>
                      <a:endParaRPr lang="en-IN" sz="12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Admin dashboard and periodic partner-data updates</a:t>
                      </a:r>
                      <a:endParaRPr lang="en-IN" sz="12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600680870"/>
                  </a:ext>
                </a:extLst>
              </a:tr>
              <a:tr h="4306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Low digital literacy</a:t>
                      </a:r>
                      <a:endParaRPr lang="en-IN" sz="12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Voice-first interface and assisted-service mode</a:t>
                      </a:r>
                      <a:endParaRPr lang="en-IN" sz="12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893391617"/>
                  </a:ext>
                </a:extLst>
              </a:tr>
              <a:tr h="5551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Limited internet connectivity</a:t>
                      </a:r>
                      <a:endParaRPr lang="en-IN" sz="12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Lightweight app, SMS alerts, and offline form saving</a:t>
                      </a:r>
                      <a:endParaRPr lang="en-IN" sz="12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161513489"/>
                  </a:ext>
                </a:extLst>
              </a:tr>
              <a:tr h="4306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Language ambiguity</a:t>
                      </a:r>
                      <a:endParaRPr lang="en-IN" sz="12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Human review option and multilingual validation</a:t>
                      </a:r>
                      <a:endParaRPr lang="en-IN" sz="12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289569022"/>
                  </a:ext>
                </a:extLst>
              </a:tr>
            </a:tbl>
          </a:graphicData>
        </a:graphic>
      </p:graphicFrame>
      <p:sp>
        <p:nvSpPr>
          <p:cNvPr id="13" name="Oval 12" descr="Your startup LOGO">
            <a:extLst>
              <a:ext uri="{FF2B5EF4-FFF2-40B4-BE49-F238E27FC236}">
                <a16:creationId xmlns:a16="http://schemas.microsoft.com/office/drawing/2014/main" id="{60497FC7-ADAB-52BA-1127-51117B8A33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8015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TechBizz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B80FBC-8030-D772-E969-F31422C22102}"/>
              </a:ext>
            </a:extLst>
          </p:cNvPr>
          <p:cNvSpPr txBox="1"/>
          <p:nvPr/>
        </p:nvSpPr>
        <p:spPr>
          <a:xfrm>
            <a:off x="68856" y="5190739"/>
            <a:ext cx="11967175" cy="10772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IN" sz="1600" b="1" u="sng" dirty="0">
                <a:solidFill>
                  <a:schemeClr val="accent4">
                    <a:lumMod val="75000"/>
                  </a:schemeClr>
                </a:solidFill>
              </a:rPr>
              <a:t>Note: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IN" sz="1200" b="1" dirty="0"/>
              <a:t>Zero Cloud Inference Overhead:</a:t>
            </a:r>
            <a:r>
              <a:rPr lang="en-IN" sz="1200" dirty="0"/>
              <a:t> Deploying quantized 4-bit local weights eliminates recurring token API expenses, keeping ongoing cloud infrastructure costs minimal for state agencies. 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IN" sz="1200" b="1" dirty="0"/>
              <a:t>Low-Bandwidth Resilient:</a:t>
            </a:r>
            <a:r>
              <a:rPr lang="en-IN" sz="1200" dirty="0"/>
              <a:t> The progressive web interface caches essential rules and form schemas locally, ensuring high operational viability in low-connectivity 2G rural regions. 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IN" sz="1200" b="1" dirty="0"/>
              <a:t>Non-Invasive Core Integration:</a:t>
            </a:r>
            <a:r>
              <a:rPr lang="en-IN" sz="1200" dirty="0"/>
              <a:t> Connects seamlessly with the existing PM-SURAJ portal and DigiLocker APIs without demanding costly retrofits to legacy banking or state agency databases. 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IN" sz="1200" b="1" dirty="0"/>
              <a:t>Institutional Risk Safeguard:</a:t>
            </a:r>
            <a:r>
              <a:rPr lang="en-IN" sz="1200" dirty="0"/>
              <a:t> Programmatically filters out channel partners with high default or overdue rates, ensuring sustainable fund utilization and viable disbursal channels. </a:t>
            </a:r>
          </a:p>
        </p:txBody>
      </p:sp>
    </p:spTree>
    <p:extLst>
      <p:ext uri="{BB962C8B-B14F-4D97-AF65-F5344CB8AC3E}">
        <p14:creationId xmlns:p14="http://schemas.microsoft.com/office/powerpoint/2010/main" val="2735211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24497-EBCB-72C0-B432-6C4CB525F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6CD3175-E5EB-0BAA-857C-F1ACB5D1B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CBFA3C49-955B-65FE-172B-CD93A9384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170ED-1C3A-1D53-41BA-2405158B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DE4C188-1229-FA10-CFD3-4A6489C91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1CC77AB6-9441-2A46-74F4-E020EAACB1B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4459D4-6F3F-CBC7-16D5-693E32F181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F520DA-5091-A5FA-8EF3-F34B793AFE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74" t="9832" r="1633" b="74019"/>
          <a:stretch>
            <a:fillRect/>
          </a:stretch>
        </p:blipFill>
        <p:spPr>
          <a:xfrm>
            <a:off x="106363" y="1213969"/>
            <a:ext cx="8359458" cy="841163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94D4A773-A2BE-E68E-5DD3-8EACFB32036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8015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TechBizz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A71E63-F90C-FEA6-9CBE-4167F846145D}"/>
              </a:ext>
            </a:extLst>
          </p:cNvPr>
          <p:cNvSpPr txBox="1"/>
          <p:nvPr/>
        </p:nvSpPr>
        <p:spPr>
          <a:xfrm>
            <a:off x="200919" y="2126101"/>
            <a:ext cx="2560569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Better awareness of </a:t>
            </a:r>
            <a:r>
              <a:rPr lang="en-IN" sz="1600" dirty="0"/>
              <a:t>preferential</a:t>
            </a:r>
            <a:r>
              <a:rPr lang="en-US" sz="1600" dirty="0"/>
              <a:t> schemes.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Fewer misrouted applications.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Clear comparison of loan amount, interest, tenure, EMI, and documents.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Support in local languages.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Reduced dependence on intermediaries.</a:t>
            </a:r>
            <a:endParaRPr lang="en-IN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6BB443-9114-871C-EDBB-BEA1346778F1}"/>
              </a:ext>
            </a:extLst>
          </p:cNvPr>
          <p:cNvSpPr txBox="1"/>
          <p:nvPr/>
        </p:nvSpPr>
        <p:spPr>
          <a:xfrm>
            <a:off x="3014231" y="2248574"/>
            <a:ext cx="263827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Better-quality and pre-screened applications.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Reduced manual verification.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Correct scheme-wise routing.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Improved visibility into application status.</a:t>
            </a:r>
            <a:endParaRPr lang="en-IN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12709F-540F-6066-90E0-B8DD67D4B14A}"/>
              </a:ext>
            </a:extLst>
          </p:cNvPr>
          <p:cNvSpPr txBox="1"/>
          <p:nvPr/>
        </p:nvSpPr>
        <p:spPr>
          <a:xfrm>
            <a:off x="5754391" y="2161827"/>
            <a:ext cx="26382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Transparent and auditable recommendations.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Improved fund utilization.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Reduced application-processing time.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Data-driven identification of under-served districts.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Better monitoring of partner performance.</a:t>
            </a:r>
            <a:endParaRPr lang="en-IN" sz="1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7BFE6DB-F961-384A-B79A-27AF14DB83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089264"/>
            <a:ext cx="12192000" cy="12612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57EFDD-A248-C9B8-DAFA-B8B7ED603AD3}"/>
              </a:ext>
            </a:extLst>
          </p:cNvPr>
          <p:cNvSpPr txBox="1"/>
          <p:nvPr/>
        </p:nvSpPr>
        <p:spPr>
          <a:xfrm>
            <a:off x="8531127" y="1238695"/>
            <a:ext cx="3459196" cy="378565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u="sng" dirty="0">
                <a:solidFill>
                  <a:schemeClr val="accent4">
                    <a:lumMod val="75000"/>
                  </a:schemeClr>
                </a:solidFill>
              </a:rPr>
              <a:t>Target Performance Indicators: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1600" u="sng" dirty="0">
              <a:solidFill>
                <a:schemeClr val="accent4">
                  <a:lumMod val="75000"/>
                </a:schemeClr>
              </a:solidFill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1300" b="1" dirty="0"/>
              <a:t>90% Reduction in Cycle Time:</a:t>
            </a:r>
            <a:r>
              <a:rPr lang="en-IN" sz="1300" dirty="0"/>
              <a:t> Drastically compresses the scheme-to-submission pipeline from a </a:t>
            </a:r>
            <a:r>
              <a:rPr lang="en-IN" sz="1300" b="1" dirty="0"/>
              <a:t>45-day offline ordeal to under 5 minutes</a:t>
            </a:r>
            <a:r>
              <a:rPr lang="en-IN" sz="1300" dirty="0"/>
              <a:t>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1300" b="1" dirty="0"/>
              <a:t>Zero Document Leakage:</a:t>
            </a:r>
            <a:r>
              <a:rPr lang="en-IN" sz="1300" dirty="0"/>
              <a:t> Ensures 100% data integrity and pre-verification via digital credential synchronization, dropping manual processing errors.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1300" b="1" dirty="0"/>
              <a:t>Dramatically Lower Rejection Rates:</a:t>
            </a:r>
            <a:r>
              <a:rPr lang="en-IN" sz="1300" dirty="0"/>
              <a:t> Delivers highly aligned, pre-screened application dossiers, increasing bank confidence and approval speeds.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1300" b="1" dirty="0"/>
              <a:t>Optimized Fund Utilization:</a:t>
            </a:r>
            <a:r>
              <a:rPr lang="en-IN" sz="1300" dirty="0"/>
              <a:t> Ensures government welfare funds are directed rapidly to active, credit-healthy channel partners with available limits.</a:t>
            </a:r>
          </a:p>
        </p:txBody>
      </p:sp>
    </p:spTree>
    <p:extLst>
      <p:ext uri="{BB962C8B-B14F-4D97-AF65-F5344CB8AC3E}">
        <p14:creationId xmlns:p14="http://schemas.microsoft.com/office/powerpoint/2010/main" val="934676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161062-4BFE-9590-A23E-7D85D40414DB}"/>
              </a:ext>
            </a:extLst>
          </p:cNvPr>
          <p:cNvSpPr txBox="1"/>
          <p:nvPr/>
        </p:nvSpPr>
        <p:spPr>
          <a:xfrm>
            <a:off x="75351" y="1098448"/>
            <a:ext cx="4771409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u="sng" dirty="0">
                <a:solidFill>
                  <a:schemeClr val="tx2"/>
                </a:solidFill>
              </a:rPr>
              <a:t>Primary Government Sources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1200" b="1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200" dirty="0">
                <a:hlinkClick r:id="rId4"/>
              </a:rPr>
              <a:t>Ministry of Social Justice &amp; Empowerment (MoSJE)</a:t>
            </a:r>
            <a:r>
              <a:rPr lang="en-IN" sz="1200" dirty="0"/>
              <a:t> - Scheme policies and guidelines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200" dirty="0">
                <a:hlinkClick r:id="rId5"/>
              </a:rPr>
              <a:t>NSFDC Official Website</a:t>
            </a:r>
            <a:r>
              <a:rPr lang="en-IN" sz="1200" dirty="0"/>
              <a:t> - Scheme details, eligibility and Channel Partners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200" dirty="0">
                <a:hlinkClick r:id="rId6"/>
              </a:rPr>
              <a:t>PM-SURAJ Portal</a:t>
            </a:r>
            <a:r>
              <a:rPr lang="en-IN" sz="1200" dirty="0"/>
              <a:t> - Official application ecosystem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200" dirty="0">
                <a:hlinkClick r:id="rId7"/>
              </a:rPr>
              <a:t>DigiLocker</a:t>
            </a:r>
            <a:r>
              <a:rPr lang="en-IN" sz="1200" dirty="0"/>
              <a:t> - Consent-based document access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200" dirty="0">
                <a:hlinkClick r:id="rId8"/>
              </a:rPr>
              <a:t>PIB</a:t>
            </a:r>
            <a:r>
              <a:rPr lang="en-IN" sz="1200" dirty="0"/>
              <a:t> - Government announcements and policy updates</a:t>
            </a:r>
          </a:p>
          <a:p>
            <a:pPr lvl="0"/>
            <a:endParaRPr lang="en-IN" sz="1200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sz="1200" b="1" u="sng" dirty="0">
              <a:solidFill>
                <a:schemeClr val="tx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u="sng" dirty="0">
                <a:solidFill>
                  <a:schemeClr val="tx2"/>
                </a:solidFill>
              </a:rPr>
              <a:t>Privacy &amp; Compliance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1200" b="1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200" dirty="0">
                <a:hlinkClick r:id="rId9"/>
              </a:rPr>
              <a:t>Digital Personal Data Protection Act, 2023</a:t>
            </a:r>
            <a:r>
              <a:rPr lang="en-IN" sz="1200" dirty="0"/>
              <a:t> - Data privacy considerations</a:t>
            </a:r>
            <a:endParaRPr lang="en-IN" sz="1200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84A6C5-F6B9-77F2-9C28-E881D0F884B8}"/>
              </a:ext>
            </a:extLst>
          </p:cNvPr>
          <p:cNvSpPr txBox="1"/>
          <p:nvPr/>
        </p:nvSpPr>
        <p:spPr>
          <a:xfrm>
            <a:off x="75351" y="4120841"/>
            <a:ext cx="486240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u="sng" dirty="0"/>
              <a:t>Note</a:t>
            </a:r>
            <a:r>
              <a:rPr lang="en-IN" sz="1400" b="1" dirty="0"/>
              <a:t>: </a:t>
            </a:r>
            <a:r>
              <a:rPr lang="en-IN" sz="1400" dirty="0"/>
              <a:t>SchemeSetu solves specific problem of MoSJE, which does not have any current implemented private or government competitors.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/>
              <a:t>Github: </a:t>
            </a:r>
            <a:r>
              <a:rPr lang="en-IN" sz="1600" dirty="0">
                <a:hlinkClick r:id="rId10"/>
              </a:rPr>
              <a:t>SchemeSetu </a:t>
            </a:r>
            <a:r>
              <a:rPr lang="en-IN" sz="1600" dirty="0" err="1">
                <a:hlinkClick r:id="rId10"/>
              </a:rPr>
              <a:t>Github</a:t>
            </a:r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/>
              <a:t>Live: </a:t>
            </a:r>
            <a:r>
              <a:rPr lang="en-IN" sz="1600" dirty="0">
                <a:hlinkClick r:id="rId11"/>
              </a:rPr>
              <a:t>SchemeSetu</a:t>
            </a:r>
            <a:endParaRPr lang="en-IN" sz="1600" dirty="0"/>
          </a:p>
        </p:txBody>
      </p:sp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CBD89296-1F11-8933-C845-3FCCB448864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8015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TechBizz</a:t>
            </a: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081B1B-255F-5E47-3345-7E415DE08D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399305"/>
              </p:ext>
            </p:extLst>
          </p:nvPr>
        </p:nvGraphicFramePr>
        <p:xfrm>
          <a:off x="4937756" y="1095375"/>
          <a:ext cx="7092180" cy="43712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2030">
                  <a:extLst>
                    <a:ext uri="{9D8B030D-6E8A-4147-A177-3AD203B41FA5}">
                      <a16:colId xmlns:a16="http://schemas.microsoft.com/office/drawing/2014/main" val="264431960"/>
                    </a:ext>
                  </a:extLst>
                </a:gridCol>
                <a:gridCol w="1182030">
                  <a:extLst>
                    <a:ext uri="{9D8B030D-6E8A-4147-A177-3AD203B41FA5}">
                      <a16:colId xmlns:a16="http://schemas.microsoft.com/office/drawing/2014/main" val="1687552684"/>
                    </a:ext>
                  </a:extLst>
                </a:gridCol>
                <a:gridCol w="1182030">
                  <a:extLst>
                    <a:ext uri="{9D8B030D-6E8A-4147-A177-3AD203B41FA5}">
                      <a16:colId xmlns:a16="http://schemas.microsoft.com/office/drawing/2014/main" val="57576490"/>
                    </a:ext>
                  </a:extLst>
                </a:gridCol>
                <a:gridCol w="1182030">
                  <a:extLst>
                    <a:ext uri="{9D8B030D-6E8A-4147-A177-3AD203B41FA5}">
                      <a16:colId xmlns:a16="http://schemas.microsoft.com/office/drawing/2014/main" val="3399005956"/>
                    </a:ext>
                  </a:extLst>
                </a:gridCol>
                <a:gridCol w="1182030">
                  <a:extLst>
                    <a:ext uri="{9D8B030D-6E8A-4147-A177-3AD203B41FA5}">
                      <a16:colId xmlns:a16="http://schemas.microsoft.com/office/drawing/2014/main" val="415357048"/>
                    </a:ext>
                  </a:extLst>
                </a:gridCol>
                <a:gridCol w="1182030">
                  <a:extLst>
                    <a:ext uri="{9D8B030D-6E8A-4147-A177-3AD203B41FA5}">
                      <a16:colId xmlns:a16="http://schemas.microsoft.com/office/drawing/2014/main" val="2560874534"/>
                    </a:ext>
                  </a:extLst>
                </a:gridCol>
              </a:tblGrid>
              <a:tr h="493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Feature / Capability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SchemeSetu (Ours)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PM-SURAJ Portal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myScheme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JanSamarth Portal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Haqdarshak</a:t>
                      </a:r>
                    </a:p>
                  </a:txBody>
                  <a:tcPr marL="86738" marR="86738" marT="43369" marB="43369" anchor="ctr"/>
                </a:tc>
                <a:extLst>
                  <a:ext uri="{0D108BD9-81ED-4DB2-BD59-A6C34878D82A}">
                    <a16:rowId xmlns:a16="http://schemas.microsoft.com/office/drawing/2014/main" val="1402966520"/>
                  </a:ext>
                </a:extLst>
              </a:tr>
              <a:tr h="493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Voice-Enabled Multilingual Chat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✓ 12+ Languages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✗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✗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✗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✗</a:t>
                      </a:r>
                    </a:p>
                  </a:txBody>
                  <a:tcPr marL="86738" marR="86738" marT="43369" marB="43369" anchor="ctr"/>
                </a:tc>
                <a:extLst>
                  <a:ext uri="{0D108BD9-81ED-4DB2-BD59-A6C34878D82A}">
                    <a16:rowId xmlns:a16="http://schemas.microsoft.com/office/drawing/2014/main" val="2791313167"/>
                  </a:ext>
                </a:extLst>
              </a:tr>
              <a:tr h="493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Local-AI Data Privacy (DPDP)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✓ Local LLM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/>
                        <a:t>✗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/>
                        <a:t>✗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/>
                        <a:t>✗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/>
                        <a:t>✗</a:t>
                      </a:r>
                    </a:p>
                  </a:txBody>
                  <a:tcPr marL="86738" marR="86738" marT="43369" marB="43369" anchor="ctr"/>
                </a:tc>
                <a:extLst>
                  <a:ext uri="{0D108BD9-81ED-4DB2-BD59-A6C34878D82A}">
                    <a16:rowId xmlns:a16="http://schemas.microsoft.com/office/drawing/2014/main" val="2429325803"/>
                  </a:ext>
                </a:extLst>
              </a:tr>
              <a:tr h="704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Grounded Citations / Explanations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/>
                        <a:t>✓ RAG-backed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✗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✗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/>
                        <a:t>✗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/>
                        <a:t>✗</a:t>
                      </a:r>
                    </a:p>
                  </a:txBody>
                  <a:tcPr marL="86738" marR="86738" marT="43369" marB="43369" anchor="ctr"/>
                </a:tc>
                <a:extLst>
                  <a:ext uri="{0D108BD9-81ED-4DB2-BD59-A6C34878D82A}">
                    <a16:rowId xmlns:a16="http://schemas.microsoft.com/office/drawing/2014/main" val="3156073871"/>
                  </a:ext>
                </a:extLst>
              </a:tr>
              <a:tr h="704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Interactive EMI &amp; Grace Calculator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/>
                        <a:t>✓ Dynamic Rules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/>
                        <a:t>✗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✗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✗ Commercial Only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/>
                        <a:t>✗</a:t>
                      </a:r>
                    </a:p>
                  </a:txBody>
                  <a:tcPr marL="86738" marR="86738" marT="43369" marB="43369" anchor="ctr"/>
                </a:tc>
                <a:extLst>
                  <a:ext uri="{0D108BD9-81ED-4DB2-BD59-A6C34878D82A}">
                    <a16:rowId xmlns:a16="http://schemas.microsoft.com/office/drawing/2014/main" val="433561882"/>
                  </a:ext>
                </a:extLst>
              </a:tr>
              <a:tr h="704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Real-Time Partner NPA Health Routing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✓ PostGIS-based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/>
                        <a:t>✗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/>
                        <a:t>✗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✗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✗</a:t>
                      </a:r>
                    </a:p>
                  </a:txBody>
                  <a:tcPr marL="86738" marR="86738" marT="43369" marB="43369" anchor="ctr"/>
                </a:tc>
                <a:extLst>
                  <a:ext uri="{0D108BD9-81ED-4DB2-BD59-A6C34878D82A}">
                    <a16:rowId xmlns:a16="http://schemas.microsoft.com/office/drawing/2014/main" val="539313236"/>
                  </a:ext>
                </a:extLst>
              </a:tr>
              <a:tr h="493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Requires Human Intermediary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/>
                        <a:t>✗ Self-Service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/>
                        <a:t>✗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/>
                        <a:t>✗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/>
                        <a:t>✗</a:t>
                      </a:r>
                    </a:p>
                  </a:txBody>
                  <a:tcPr marL="86738" marR="86738" marT="43369" marB="433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✓ Field Agents</a:t>
                      </a:r>
                    </a:p>
                  </a:txBody>
                  <a:tcPr marL="86738" marR="86738" marT="43369" marB="43369" anchor="ctr"/>
                </a:tc>
                <a:extLst>
                  <a:ext uri="{0D108BD9-81ED-4DB2-BD59-A6C34878D82A}">
                    <a16:rowId xmlns:a16="http://schemas.microsoft.com/office/drawing/2014/main" val="451087376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991308C9-9B7B-66A5-C334-C4F8E00DB45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87474" y="4787748"/>
            <a:ext cx="1559286" cy="155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8309</TotalTime>
  <Words>742</Words>
  <Application>Microsoft Office PowerPoint</Application>
  <PresentationFormat>Widescreen</PresentationFormat>
  <Paragraphs>174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SchemeSetu</vt:lpstr>
      <vt:lpstr>TECHNICAL APPROACH</vt:lpstr>
      <vt:lpstr>PowerPoint Presentation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Sahaj Italiya</cp:lastModifiedBy>
  <cp:revision>190</cp:revision>
  <cp:lastPrinted>2026-09-01T17:45:40Z</cp:lastPrinted>
  <dcterms:created xsi:type="dcterms:W3CDTF">2013-12-12T18:46:50Z</dcterms:created>
  <dcterms:modified xsi:type="dcterms:W3CDTF">2026-09-14T10:07:09Z</dcterms:modified>
  <cp:category/>
</cp:coreProperties>
</file>